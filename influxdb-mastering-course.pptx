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Usage</c:v>
                </c:pt>
              </c:strCache>
            </c:strRef>
          </c:tx>
          <c:spPr>
            <a:solidFill>
              <a:srgbClr val="5EA8A7"/>
            </a:solidFill>
            <a:ln w="38100" cap="flat">
              <a:solidFill>
                <a:srgbClr val="5EA8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EA8A7"/>
              </a:solidFill>
              <a:ln w="9525" cap="flat">
                <a:solidFill>
                  <a:srgbClr val="5EA8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00:00</c:v>
                  </c:pt>
                  <c:pt idx="1">
                    <c:v>04:00</c:v>
                  </c:pt>
                  <c:pt idx="2">
                    <c:v>08:00</c:v>
                  </c:pt>
                  <c:pt idx="3">
                    <c:v>12:00</c:v>
                  </c:pt>
                  <c:pt idx="4">
                    <c:v>16:00</c:v>
                  </c:pt>
                  <c:pt idx="5">
                    <c:v>20:00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52</c:v>
                </c:pt>
                <c:pt idx="2">
                  <c:v>68</c:v>
                </c:pt>
                <c:pt idx="3">
                  <c:v>75</c:v>
                </c:pt>
                <c:pt idx="4">
                  <c:v>62</c:v>
                </c:pt>
                <c:pt idx="5">
                  <c:v>48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Memory Usage</c:v>
                </c:pt>
              </c:strCache>
            </c:strRef>
          </c:tx>
          <c:spPr>
            <a:solidFill>
              <a:srgbClr val="FE4447"/>
            </a:solidFill>
            <a:ln w="38100" cap="flat">
              <a:solidFill>
                <a:srgbClr val="FE44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E4447"/>
              </a:solidFill>
              <a:ln w="9525" cap="flat">
                <a:solidFill>
                  <a:srgbClr val="FE44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00:00</c:v>
                  </c:pt>
                  <c:pt idx="1">
                    <c:v>04:00</c:v>
                  </c:pt>
                  <c:pt idx="2">
                    <c:v>08:00</c:v>
                  </c:pt>
                  <c:pt idx="3">
                    <c:v>12:00</c:v>
                  </c:pt>
                  <c:pt idx="4">
                    <c:v>16:00</c:v>
                  </c:pt>
                  <c:pt idx="5">
                    <c:v>20:00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55</c:v>
                </c:pt>
                <c:pt idx="1">
                  <c:v>58</c:v>
                </c:pt>
                <c:pt idx="2">
                  <c:v>62</c:v>
                </c:pt>
                <c:pt idx="3">
                  <c:v>71</c:v>
                </c:pt>
                <c:pt idx="4">
                  <c:v>68</c:v>
                </c:pt>
                <c:pt idx="5">
                  <c:v>60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Time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Usage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3183" y="1579662"/>
            <a:ext cx="495748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InfluxDB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011269" y="2494062"/>
            <a:ext cx="7121462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33"/>
              </a:lnSpc>
              <a:spcBef>
                <a:spcPts val="1200"/>
              </a:spcBef>
              <a:buNone/>
            </a:pPr>
            <a:r>
              <a:rPr lang="en-US" sz="2100" dirty="0">
                <a:solidFill>
                  <a:srgbClr val="7EBD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Course for Data Engineers &amp; Software Architects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20310" y="3323779"/>
            <a:ext cx="590338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2400"/>
              </a:spcBef>
              <a:buNone/>
            </a:pPr>
            <a:r>
              <a:rPr lang="en-US" sz="13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 v1 • Time-Series Database Fundamentals to Advanced Implementation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3884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14834"/>
            <a:ext cx="9144000" cy="0"/>
          </a:xfrm>
          <a:prstGeom prst="line">
            <a:avLst/>
          </a:prstGeom>
          <a:noFill/>
          <a:ln w="38100">
            <a:solidFill>
              <a:srgbClr val="FE4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4800" y="1910507"/>
            <a:ext cx="4002786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4800" y="2314277"/>
            <a:ext cx="3924300" cy="19812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Engineers building telemetry and IoT pipelines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Architects designing time-series systems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Program Designers for data platforms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Engineers managing observability solutions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457700" y="2081957"/>
            <a:ext cx="4381500" cy="2042071"/>
          </a:xfrm>
          <a:prstGeom prst="roundRect">
            <a:avLst>
              <a:gd name="adj" fmla="val 373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86300" y="2310557"/>
            <a:ext cx="4002786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86300" y="2714327"/>
            <a:ext cx="39243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concepts and architecture design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optimization and data modeling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InfluxQL and Flux query languages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implementation patterns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7684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8634"/>
            <a:ext cx="9144000" cy="0"/>
          </a:xfrm>
          <a:prstGeom prst="line">
            <a:avLst/>
          </a:prstGeom>
          <a:noFill/>
          <a:ln w="38100">
            <a:solidFill>
              <a:srgbClr val="FE4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0500" y="190500"/>
            <a:ext cx="4478845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Comprehensive Modules</a:t>
            </a:r>
            <a:endParaRPr lang="en-US" sz="2400" dirty="0"/>
          </a:p>
        </p:txBody>
      </p:sp>
      <p:pic>
        <p:nvPicPr>
          <p:cNvPr id="5" name="Image 0" descr="/tmp/rasterized-gradient-4d47fd9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315492"/>
            <a:ext cx="2489150" cy="6895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1025" y="1467892"/>
            <a:ext cx="21794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81025" y="1692622"/>
            <a:ext cx="21794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1-3</a:t>
            </a:r>
            <a:endParaRPr lang="en-US" sz="900" dirty="0"/>
          </a:p>
        </p:txBody>
      </p:sp>
      <p:pic>
        <p:nvPicPr>
          <p:cNvPr id="8" name="Image 1" descr="/tmp/rasterized-gradient-c44e56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350" y="1315492"/>
            <a:ext cx="2489150" cy="6895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27375" y="1467892"/>
            <a:ext cx="21794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27375" y="1692622"/>
            <a:ext cx="21794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4-7</a:t>
            </a:r>
            <a:endParaRPr lang="en-US" sz="900" dirty="0"/>
          </a:p>
        </p:txBody>
      </p:sp>
      <p:pic>
        <p:nvPicPr>
          <p:cNvPr id="11" name="Image 2" descr="/tmp/rasterized-gradient-c2c375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701" y="1315492"/>
            <a:ext cx="2489150" cy="6895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73726" y="1467892"/>
            <a:ext cx="21794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473726" y="1692622"/>
            <a:ext cx="21794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8-14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381000" y="2347913"/>
            <a:ext cx="2641550" cy="401836"/>
          </a:xfrm>
          <a:prstGeom prst="roundRect">
            <a:avLst>
              <a:gd name="adj" fmla="val 948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395288" y="2347913"/>
            <a:ext cx="0" cy="401836"/>
          </a:xfrm>
          <a:prstGeom prst="line">
            <a:avLst/>
          </a:prstGeom>
          <a:noFill/>
          <a:ln w="28575">
            <a:solidFill>
              <a:srgbClr val="5EA8A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23875" y="2462213"/>
            <a:ext cx="24320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Introduction</a:t>
            </a:r>
            <a:endParaRPr lang="en-US" sz="975" dirty="0"/>
          </a:p>
        </p:txBody>
      </p:sp>
      <p:sp>
        <p:nvSpPr>
          <p:cNvPr id="17" name="Text 12"/>
          <p:cNvSpPr/>
          <p:nvPr/>
        </p:nvSpPr>
        <p:spPr>
          <a:xfrm>
            <a:off x="381000" y="2864048"/>
            <a:ext cx="2641550" cy="401836"/>
          </a:xfrm>
          <a:prstGeom prst="roundRect">
            <a:avLst>
              <a:gd name="adj" fmla="val 948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395288" y="2864048"/>
            <a:ext cx="0" cy="401836"/>
          </a:xfrm>
          <a:prstGeom prst="line">
            <a:avLst/>
          </a:prstGeom>
          <a:noFill/>
          <a:ln w="28575">
            <a:solidFill>
              <a:srgbClr val="5EA8A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23875" y="2978348"/>
            <a:ext cx="24320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Installation</a:t>
            </a:r>
            <a:endParaRPr lang="en-US" sz="975" dirty="0"/>
          </a:p>
        </p:txBody>
      </p:sp>
      <p:sp>
        <p:nvSpPr>
          <p:cNvPr id="20" name="Text 15"/>
          <p:cNvSpPr/>
          <p:nvPr/>
        </p:nvSpPr>
        <p:spPr>
          <a:xfrm>
            <a:off x="381000" y="3380184"/>
            <a:ext cx="2641550" cy="401836"/>
          </a:xfrm>
          <a:prstGeom prst="roundRect">
            <a:avLst>
              <a:gd name="adj" fmla="val 948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395288" y="3380184"/>
            <a:ext cx="0" cy="401836"/>
          </a:xfrm>
          <a:prstGeom prst="line">
            <a:avLst/>
          </a:prstGeom>
          <a:noFill/>
          <a:ln w="28575">
            <a:solidFill>
              <a:srgbClr val="5EA8A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23875" y="3494484"/>
            <a:ext cx="24320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Core Concepts</a:t>
            </a:r>
            <a:endParaRPr lang="en-US" sz="975" dirty="0"/>
          </a:p>
        </p:txBody>
      </p:sp>
      <p:sp>
        <p:nvSpPr>
          <p:cNvPr id="23" name="Text 18"/>
          <p:cNvSpPr/>
          <p:nvPr/>
        </p:nvSpPr>
        <p:spPr>
          <a:xfrm>
            <a:off x="381000" y="3896320"/>
            <a:ext cx="2641550" cy="401836"/>
          </a:xfrm>
          <a:prstGeom prst="roundRect">
            <a:avLst>
              <a:gd name="adj" fmla="val 948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19"/>
          <p:cNvSpPr/>
          <p:nvPr/>
        </p:nvSpPr>
        <p:spPr>
          <a:xfrm>
            <a:off x="395288" y="3896320"/>
            <a:ext cx="0" cy="401836"/>
          </a:xfrm>
          <a:prstGeom prst="line">
            <a:avLst/>
          </a:prstGeom>
          <a:noFill/>
          <a:ln w="28575">
            <a:solidFill>
              <a:srgbClr val="5EA8A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23875" y="4010620"/>
            <a:ext cx="24320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Design Insights</a:t>
            </a:r>
            <a:endParaRPr lang="en-US" sz="975" dirty="0"/>
          </a:p>
        </p:txBody>
      </p:sp>
      <p:sp>
        <p:nvSpPr>
          <p:cNvPr id="26" name="Text 21"/>
          <p:cNvSpPr/>
          <p:nvPr/>
        </p:nvSpPr>
        <p:spPr>
          <a:xfrm>
            <a:off x="381000" y="4412456"/>
            <a:ext cx="2641550" cy="401836"/>
          </a:xfrm>
          <a:prstGeom prst="roundRect">
            <a:avLst>
              <a:gd name="adj" fmla="val 948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2"/>
          <p:cNvSpPr/>
          <p:nvPr/>
        </p:nvSpPr>
        <p:spPr>
          <a:xfrm>
            <a:off x="395288" y="4412456"/>
            <a:ext cx="0" cy="401836"/>
          </a:xfrm>
          <a:prstGeom prst="line">
            <a:avLst/>
          </a:prstGeom>
          <a:noFill/>
          <a:ln w="28575">
            <a:solidFill>
              <a:srgbClr val="5EA8A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23875" y="4526756"/>
            <a:ext cx="24320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Data Management</a:t>
            </a:r>
            <a:endParaRPr lang="en-US" sz="975" dirty="0"/>
          </a:p>
        </p:txBody>
      </p:sp>
      <p:sp>
        <p:nvSpPr>
          <p:cNvPr id="29" name="Text 24"/>
          <p:cNvSpPr/>
          <p:nvPr/>
        </p:nvSpPr>
        <p:spPr>
          <a:xfrm>
            <a:off x="3251150" y="2347913"/>
            <a:ext cx="2641550" cy="401836"/>
          </a:xfrm>
          <a:prstGeom prst="roundRect">
            <a:avLst>
              <a:gd name="adj" fmla="val 948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5"/>
          <p:cNvSpPr/>
          <p:nvPr/>
        </p:nvSpPr>
        <p:spPr>
          <a:xfrm>
            <a:off x="3265438" y="2347913"/>
            <a:ext cx="0" cy="401836"/>
          </a:xfrm>
          <a:prstGeom prst="line">
            <a:avLst/>
          </a:prstGeom>
          <a:noFill/>
          <a:ln w="28575">
            <a:solidFill>
              <a:srgbClr val="5EA8A7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394025" y="2462213"/>
            <a:ext cx="24320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Migration &amp; Admin</a:t>
            </a:r>
            <a:endParaRPr lang="en-US" sz="975" dirty="0"/>
          </a:p>
        </p:txBody>
      </p:sp>
      <p:sp>
        <p:nvSpPr>
          <p:cNvPr id="32" name="Text 27"/>
          <p:cNvSpPr/>
          <p:nvPr/>
        </p:nvSpPr>
        <p:spPr>
          <a:xfrm>
            <a:off x="3251150" y="2864048"/>
            <a:ext cx="2641550" cy="401836"/>
          </a:xfrm>
          <a:prstGeom prst="roundRect">
            <a:avLst>
              <a:gd name="adj" fmla="val 948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28"/>
          <p:cNvSpPr/>
          <p:nvPr/>
        </p:nvSpPr>
        <p:spPr>
          <a:xfrm>
            <a:off x="3265438" y="2864048"/>
            <a:ext cx="0" cy="401836"/>
          </a:xfrm>
          <a:prstGeom prst="line">
            <a:avLst/>
          </a:prstGeom>
          <a:noFill/>
          <a:ln w="28575">
            <a:solidFill>
              <a:srgbClr val="5EA8A7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394025" y="2978348"/>
            <a:ext cx="24320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CLI Tools</a:t>
            </a:r>
            <a:endParaRPr lang="en-US" sz="975" dirty="0"/>
          </a:p>
        </p:txBody>
      </p:sp>
      <p:sp>
        <p:nvSpPr>
          <p:cNvPr id="35" name="Text 30"/>
          <p:cNvSpPr/>
          <p:nvPr/>
        </p:nvSpPr>
        <p:spPr>
          <a:xfrm>
            <a:off x="3251150" y="3380184"/>
            <a:ext cx="2641550" cy="401836"/>
          </a:xfrm>
          <a:prstGeom prst="roundRect">
            <a:avLst>
              <a:gd name="adj" fmla="val 948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1"/>
          <p:cNvSpPr/>
          <p:nvPr/>
        </p:nvSpPr>
        <p:spPr>
          <a:xfrm>
            <a:off x="3265438" y="3380184"/>
            <a:ext cx="0" cy="401836"/>
          </a:xfrm>
          <a:prstGeom prst="line">
            <a:avLst/>
          </a:prstGeom>
          <a:noFill/>
          <a:ln w="28575">
            <a:solidFill>
              <a:srgbClr val="5EA8A7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394025" y="3494484"/>
            <a:ext cx="24320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InfluxQL</a:t>
            </a:r>
            <a:endParaRPr lang="en-US" sz="975" dirty="0"/>
          </a:p>
        </p:txBody>
      </p:sp>
      <p:sp>
        <p:nvSpPr>
          <p:cNvPr id="38" name="Text 33"/>
          <p:cNvSpPr/>
          <p:nvPr/>
        </p:nvSpPr>
        <p:spPr>
          <a:xfrm>
            <a:off x="3251150" y="3896320"/>
            <a:ext cx="2641550" cy="401836"/>
          </a:xfrm>
          <a:prstGeom prst="roundRect">
            <a:avLst>
              <a:gd name="adj" fmla="val 948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4"/>
          <p:cNvSpPr/>
          <p:nvPr/>
        </p:nvSpPr>
        <p:spPr>
          <a:xfrm>
            <a:off x="3265438" y="3896320"/>
            <a:ext cx="0" cy="401836"/>
          </a:xfrm>
          <a:prstGeom prst="line">
            <a:avLst/>
          </a:prstGeom>
          <a:noFill/>
          <a:ln w="28575">
            <a:solidFill>
              <a:srgbClr val="5EA8A7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3394025" y="4010620"/>
            <a:ext cx="24320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Flux Language</a:t>
            </a:r>
            <a:endParaRPr lang="en-US" sz="975" dirty="0"/>
          </a:p>
        </p:txBody>
      </p:sp>
      <p:sp>
        <p:nvSpPr>
          <p:cNvPr id="41" name="Text 36"/>
          <p:cNvSpPr/>
          <p:nvPr/>
        </p:nvSpPr>
        <p:spPr>
          <a:xfrm>
            <a:off x="3251150" y="4412456"/>
            <a:ext cx="2641550" cy="401836"/>
          </a:xfrm>
          <a:prstGeom prst="roundRect">
            <a:avLst>
              <a:gd name="adj" fmla="val 948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7"/>
          <p:cNvSpPr/>
          <p:nvPr/>
        </p:nvSpPr>
        <p:spPr>
          <a:xfrm>
            <a:off x="3265438" y="4412456"/>
            <a:ext cx="0" cy="401836"/>
          </a:xfrm>
          <a:prstGeom prst="line">
            <a:avLst/>
          </a:prstGeom>
          <a:noFill/>
          <a:ln w="28575">
            <a:solidFill>
              <a:srgbClr val="5EA8A7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3394025" y="4526756"/>
            <a:ext cx="24320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Write Protocols</a:t>
            </a:r>
            <a:endParaRPr lang="en-US" sz="975" dirty="0"/>
          </a:p>
        </p:txBody>
      </p:sp>
      <p:sp>
        <p:nvSpPr>
          <p:cNvPr id="44" name="Text 39"/>
          <p:cNvSpPr/>
          <p:nvPr/>
        </p:nvSpPr>
        <p:spPr>
          <a:xfrm>
            <a:off x="6121301" y="2605980"/>
            <a:ext cx="2641550" cy="401836"/>
          </a:xfrm>
          <a:prstGeom prst="roundRect">
            <a:avLst>
              <a:gd name="adj" fmla="val 948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0"/>
          <p:cNvSpPr/>
          <p:nvPr/>
        </p:nvSpPr>
        <p:spPr>
          <a:xfrm>
            <a:off x="6135588" y="2605980"/>
            <a:ext cx="0" cy="401836"/>
          </a:xfrm>
          <a:prstGeom prst="line">
            <a:avLst/>
          </a:prstGeom>
          <a:noFill/>
          <a:ln w="28575">
            <a:solidFill>
              <a:srgbClr val="FE4447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264176" y="2720280"/>
            <a:ext cx="24320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High Availability</a:t>
            </a:r>
            <a:endParaRPr lang="en-US" sz="975" dirty="0"/>
          </a:p>
        </p:txBody>
      </p:sp>
      <p:sp>
        <p:nvSpPr>
          <p:cNvPr id="47" name="Text 42"/>
          <p:cNvSpPr/>
          <p:nvPr/>
        </p:nvSpPr>
        <p:spPr>
          <a:xfrm>
            <a:off x="6121301" y="3122116"/>
            <a:ext cx="2641550" cy="401836"/>
          </a:xfrm>
          <a:prstGeom prst="roundRect">
            <a:avLst>
              <a:gd name="adj" fmla="val 948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3"/>
          <p:cNvSpPr/>
          <p:nvPr/>
        </p:nvSpPr>
        <p:spPr>
          <a:xfrm>
            <a:off x="6135588" y="3122116"/>
            <a:ext cx="0" cy="401836"/>
          </a:xfrm>
          <a:prstGeom prst="line">
            <a:avLst/>
          </a:prstGeom>
          <a:noFill/>
          <a:ln w="28575">
            <a:solidFill>
              <a:srgbClr val="FE4447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264176" y="3236416"/>
            <a:ext cx="24320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Use Cases</a:t>
            </a:r>
            <a:endParaRPr lang="en-US" sz="975" dirty="0"/>
          </a:p>
        </p:txBody>
      </p:sp>
      <p:sp>
        <p:nvSpPr>
          <p:cNvPr id="50" name="Text 45"/>
          <p:cNvSpPr/>
          <p:nvPr/>
        </p:nvSpPr>
        <p:spPr>
          <a:xfrm>
            <a:off x="6121301" y="3638252"/>
            <a:ext cx="2641550" cy="401836"/>
          </a:xfrm>
          <a:prstGeom prst="roundRect">
            <a:avLst>
              <a:gd name="adj" fmla="val 948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6"/>
          <p:cNvSpPr/>
          <p:nvPr/>
        </p:nvSpPr>
        <p:spPr>
          <a:xfrm>
            <a:off x="6135588" y="3638252"/>
            <a:ext cx="0" cy="401836"/>
          </a:xfrm>
          <a:prstGeom prst="line">
            <a:avLst/>
          </a:prstGeom>
          <a:noFill/>
          <a:ln w="28575">
            <a:solidFill>
              <a:srgbClr val="FE4447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6264176" y="3752552"/>
            <a:ext cx="24320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System Architecture</a:t>
            </a:r>
            <a:endParaRPr lang="en-US" sz="975" dirty="0"/>
          </a:p>
        </p:txBody>
      </p:sp>
      <p:sp>
        <p:nvSpPr>
          <p:cNvPr id="53" name="Text 48"/>
          <p:cNvSpPr/>
          <p:nvPr/>
        </p:nvSpPr>
        <p:spPr>
          <a:xfrm>
            <a:off x="6121301" y="4154388"/>
            <a:ext cx="2641550" cy="401836"/>
          </a:xfrm>
          <a:prstGeom prst="roundRect">
            <a:avLst>
              <a:gd name="adj" fmla="val 948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49"/>
          <p:cNvSpPr/>
          <p:nvPr/>
        </p:nvSpPr>
        <p:spPr>
          <a:xfrm>
            <a:off x="6135588" y="4154388"/>
            <a:ext cx="0" cy="401836"/>
          </a:xfrm>
          <a:prstGeom prst="line">
            <a:avLst/>
          </a:prstGeom>
          <a:noFill/>
          <a:ln w="28575">
            <a:solidFill>
              <a:srgbClr val="FE4447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6264176" y="4268688"/>
            <a:ext cx="24320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Resources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431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89382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415230"/>
            <a:ext cx="4478845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InfluxDB?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4800" y="1946672"/>
            <a:ext cx="3963924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Time-Series Database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4800" y="2350443"/>
            <a:ext cx="3963924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5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InfluxDB is purpose-built for storing and querying time-stamped data at scale.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3188643"/>
            <a:ext cx="38862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for high-write and query loads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SQL-like query language (InfluxQL)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retention policies and downsampling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HTTP API for easy integration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19600" y="1624608"/>
            <a:ext cx="4419600" cy="3067050"/>
          </a:xfrm>
          <a:prstGeom prst="roundRect">
            <a:avLst>
              <a:gd name="adj" fmla="val 2484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86300" y="1891308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86300" y="2272308"/>
            <a:ext cx="3886200" cy="466725"/>
          </a:xfrm>
          <a:prstGeom prst="roundRect">
            <a:avLst>
              <a:gd name="adj" fmla="val 1224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9650" y="2405658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&amp; Sensor Networks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686300" y="2834283"/>
            <a:ext cx="3886200" cy="466725"/>
          </a:xfrm>
          <a:prstGeom prst="roundRect">
            <a:avLst>
              <a:gd name="adj" fmla="val 1224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9650" y="2967633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Monitoring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686300" y="3396258"/>
            <a:ext cx="3886200" cy="466725"/>
          </a:xfrm>
          <a:prstGeom prst="roundRect">
            <a:avLst>
              <a:gd name="adj" fmla="val 1224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650" y="3529608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Analytics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686300" y="3958233"/>
            <a:ext cx="3886200" cy="466725"/>
          </a:xfrm>
          <a:prstGeom prst="roundRect">
            <a:avLst>
              <a:gd name="adj" fmla="val 1224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9650" y="4091583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Telemetry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431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89382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415230"/>
            <a:ext cx="4653725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InfluxDB Architecture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Ingestion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828800" cy="54864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HTTP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Line Protocol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2011680"/>
            <a:ext cx="731520" cy="457200"/>
          </a:xfrm>
          <a:prstGeom prst="rightArrow">
            <a:avLst/>
          </a:prstGeom>
          <a:solidFill>
            <a:srgbClr val="FE4447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371600"/>
            <a:ext cx="1828800" cy="73152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TSM Engine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2194560"/>
            <a:ext cx="1828800" cy="54864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Time-Structured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Merge Tree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011680"/>
            <a:ext cx="731520" cy="457200"/>
          </a:xfrm>
          <a:prstGeom prst="rightArrow">
            <a:avLst/>
          </a:prstGeom>
          <a:solidFill>
            <a:srgbClr val="FE444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371600"/>
            <a:ext cx="1828800" cy="73152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Query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194560"/>
            <a:ext cx="1828800" cy="54864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InfluxQL / Flux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3291840"/>
            <a:ext cx="2011680" cy="548640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Retention Policies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3291840"/>
            <a:ext cx="2011680" cy="548640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Continuous Queries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431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89382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415230"/>
            <a:ext cx="4478845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InfluxDB Data Model</a:t>
            </a:r>
            <a:endParaRPr lang="en-US" sz="2400" dirty="0"/>
          </a:p>
        </p:txBody>
      </p:sp>
      <p:pic>
        <p:nvPicPr>
          <p:cNvPr id="5" name="Image 0" descr="/tmp/rasterized-gradient-b88466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1154460"/>
            <a:ext cx="2000250" cy="8322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7777" y="1325910"/>
            <a:ext cx="169049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7777" y="1642021"/>
            <a:ext cx="16904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for data</a:t>
            </a:r>
            <a:endParaRPr lang="en-US" sz="975" dirty="0"/>
          </a:p>
        </p:txBody>
      </p:sp>
      <p:pic>
        <p:nvPicPr>
          <p:cNvPr id="8" name="Image 1" descr="/tmp/rasterized-gradient-610d88a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0" y="1154460"/>
            <a:ext cx="2000250" cy="8322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50427" y="1325910"/>
            <a:ext cx="169049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650427" y="1642021"/>
            <a:ext cx="16904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metadata</a:t>
            </a:r>
            <a:endParaRPr lang="en-US" sz="975" dirty="0"/>
          </a:p>
        </p:txBody>
      </p:sp>
      <p:pic>
        <p:nvPicPr>
          <p:cNvPr id="11" name="Image 2" descr="/tmp/rasterized-gradient-d66326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154460"/>
            <a:ext cx="2000250" cy="8322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03076" y="1325910"/>
            <a:ext cx="169049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803076" y="1642021"/>
            <a:ext cx="16904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values</a:t>
            </a:r>
            <a:endParaRPr lang="en-US" sz="975" dirty="0"/>
          </a:p>
        </p:txBody>
      </p:sp>
      <p:sp>
        <p:nvSpPr>
          <p:cNvPr id="14" name="Text 9"/>
          <p:cNvSpPr/>
          <p:nvPr/>
        </p:nvSpPr>
        <p:spPr>
          <a:xfrm>
            <a:off x="6800850" y="1154460"/>
            <a:ext cx="2000250" cy="832247"/>
          </a:xfrm>
          <a:prstGeom prst="roundRect">
            <a:avLst>
              <a:gd name="adj" fmla="val 6867"/>
            </a:avLst>
          </a:prstGeom>
          <a:solidFill>
            <a:srgbClr val="5665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955727" y="1325910"/>
            <a:ext cx="169049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955727" y="1642021"/>
            <a:ext cx="16904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in time</a:t>
            </a:r>
            <a:endParaRPr lang="en-US" sz="975" dirty="0"/>
          </a:p>
        </p:txBody>
      </p:sp>
      <p:sp>
        <p:nvSpPr>
          <p:cNvPr id="17" name="Text 12"/>
          <p:cNvSpPr/>
          <p:nvPr/>
        </p:nvSpPr>
        <p:spPr>
          <a:xfrm>
            <a:off x="342900" y="2329607"/>
            <a:ext cx="8458200" cy="2087761"/>
          </a:xfrm>
          <a:prstGeom prst="roundRect">
            <a:avLst>
              <a:gd name="adj" fmla="val 365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366713" y="2329607"/>
            <a:ext cx="0" cy="2087761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61975" y="2501057"/>
            <a:ext cx="822902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IoT Temperature Sensor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61975" y="2779068"/>
            <a:ext cx="8067675" cy="146685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9525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704850" y="2921943"/>
            <a:ext cx="7937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temperature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704850" y="3226743"/>
            <a:ext cx="7937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tags:</a:t>
            </a:r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location=building-A, sensor_id=sensor-01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04850" y="3531543"/>
            <a:ext cx="7937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fields:</a:t>
            </a:r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value=22.5, humidity=45.2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704850" y="3836343"/>
            <a:ext cx="7937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timestamp:</a:t>
            </a:r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2025-11-04T10:30:00Z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342900" y="4684068"/>
            <a:ext cx="8458200" cy="439936"/>
          </a:xfrm>
          <a:prstGeom prst="roundRect">
            <a:avLst>
              <a:gd name="adj" fmla="val 12991"/>
            </a:avLst>
          </a:prstGeom>
          <a:solidFill>
            <a:srgbClr val="5EA8A7">
              <a:alpha val="10000"/>
            </a:srgbClr>
          </a:solidFill>
          <a:ln w="19050">
            <a:solidFill>
              <a:srgbClr val="7EBD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76250" y="4817418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Key Insight: Tags are indexed, Fields are not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431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89382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415230"/>
            <a:ext cx="5877878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vs Fields: Critical Design Decision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1287214"/>
          <a:ext cx="8534400" cy="3703886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Tags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Fields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44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Indexed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✓ 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✗ 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Data Type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String only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String, Float, Int, Boolean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Query Performance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Fast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Slower (full scan)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Use For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Metadata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Actual measurements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location, sensor_id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temperature, value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431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89382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415230"/>
            <a:ext cx="4478845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InfluxDB Line Protocol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2900" y="1691432"/>
            <a:ext cx="8458200" cy="1230511"/>
          </a:xfrm>
          <a:prstGeom prst="roundRect">
            <a:avLst>
              <a:gd name="adj" fmla="val 619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300" y="1843832"/>
            <a:ext cx="831646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Format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5300" y="2121843"/>
            <a:ext cx="8153400" cy="6477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5EA8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6750" y="2293293"/>
            <a:ext cx="79667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,tag_key=tag_value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field_key=field_value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2900" y="3321993"/>
            <a:ext cx="4152900" cy="1131540"/>
          </a:xfrm>
          <a:prstGeom prst="roundRect">
            <a:avLst>
              <a:gd name="adj" fmla="val 6734"/>
            </a:avLst>
          </a:prstGeom>
          <a:solidFill>
            <a:srgbClr val="FFFFFF"/>
          </a:solidFill>
          <a:ln w="19050">
            <a:solidFill>
              <a:srgbClr val="2778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493443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 Simple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4350" y="3748683"/>
            <a:ext cx="3810000" cy="533400"/>
          </a:xfrm>
          <a:prstGeom prst="roundRect">
            <a:avLst>
              <a:gd name="adj" fmla="val 714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7700" y="3882033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temperature,location=room1 value=23.5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8200" y="3188643"/>
            <a:ext cx="4152900" cy="1398240"/>
          </a:xfrm>
          <a:prstGeom prst="roundRect">
            <a:avLst>
              <a:gd name="adj" fmla="val 5450"/>
            </a:avLst>
          </a:prstGeom>
          <a:solidFill>
            <a:srgbClr val="FFFFFF"/>
          </a:solidFill>
          <a:ln w="19050">
            <a:solidFill>
              <a:srgbClr val="2778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9650" y="3360093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 Multiple Tags &amp; Fields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9650" y="3615333"/>
            <a:ext cx="3810000" cy="800100"/>
          </a:xfrm>
          <a:prstGeom prst="roundRect">
            <a:avLst>
              <a:gd name="adj" fmla="val 476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53000" y="3748683"/>
            <a:ext cx="361416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cpu,host=server01,region=us value=75.2,idle=24.8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431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89382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415230"/>
            <a:ext cx="4993767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InfluxQL: Query Language Basics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4800" y="1485751"/>
            <a:ext cx="8534400" cy="1055340"/>
          </a:xfrm>
          <a:prstGeom prst="roundRect">
            <a:avLst>
              <a:gd name="adj" fmla="val 722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150" y="1619101"/>
            <a:ext cx="8433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SELECT Query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8150" y="1855291"/>
            <a:ext cx="82677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5EA8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1025" y="1998166"/>
            <a:ext cx="81415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* FROM temperature WHERE location='building-A'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4800" y="2788741"/>
            <a:ext cx="8534400" cy="1093440"/>
          </a:xfrm>
          <a:prstGeom prst="roundRect">
            <a:avLst>
              <a:gd name="adj" fmla="val 6969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2941141"/>
            <a:ext cx="8394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with GROUP BY TIME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96382"/>
            <a:ext cx="8229600" cy="533400"/>
          </a:xfrm>
          <a:prstGeom prst="roundRect">
            <a:avLst>
              <a:gd name="adj" fmla="val 10714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0550" y="3329732"/>
            <a:ext cx="8122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MEAN(value) FROM temperature GROUP BY TIME(1h)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4800" y="4167932"/>
            <a:ext cx="2019300" cy="586532"/>
          </a:xfrm>
          <a:prstGeom prst="roundRect">
            <a:avLst>
              <a:gd name="adj" fmla="val 9744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1193" y="4282232"/>
            <a:ext cx="18265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MEAN()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01193" y="4493568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476500" y="4167932"/>
            <a:ext cx="2019300" cy="586532"/>
          </a:xfrm>
          <a:prstGeom prst="roundRect">
            <a:avLst>
              <a:gd name="adj" fmla="val 9744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572893" y="4282232"/>
            <a:ext cx="18265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SUM()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572893" y="4493568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48200" y="4167932"/>
            <a:ext cx="2019300" cy="586532"/>
          </a:xfrm>
          <a:prstGeom prst="roundRect">
            <a:avLst>
              <a:gd name="adj" fmla="val 9744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44593" y="4282232"/>
            <a:ext cx="18265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COUNT()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744593" y="4493568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819900" y="4167932"/>
            <a:ext cx="2019300" cy="586532"/>
          </a:xfrm>
          <a:prstGeom prst="roundRect">
            <a:avLst>
              <a:gd name="adj" fmla="val 9744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16293" y="4282232"/>
            <a:ext cx="18265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MAX()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916293" y="4493568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431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89382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415230"/>
            <a:ext cx="5761292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Policies &amp; Data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2900" y="1453158"/>
            <a:ext cx="4235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Retention Policies?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2900" y="1834158"/>
            <a:ext cx="423595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5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policies define how long InfluxDB keeps data before automatically deleting it.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2900" y="2672358"/>
            <a:ext cx="4152900" cy="1962150"/>
          </a:xfrm>
          <a:prstGeom prst="roundRect">
            <a:avLst>
              <a:gd name="adj" fmla="val 291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2843808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Retention Policy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4350" y="3110508"/>
            <a:ext cx="3810000" cy="135255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5EA8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7225" y="3253383"/>
            <a:ext cx="35947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RETENTION POLICY "one_week"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7225" y="3786783"/>
            <a:ext cx="35947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"mydb" DURATION 7d REPLICATION 1</a:t>
            </a:r>
            <a:endParaRPr lang="en-US" sz="1500" dirty="0"/>
          </a:p>
        </p:txBody>
      </p:sp>
      <p:pic>
        <p:nvPicPr>
          <p:cNvPr id="12" name="Image 0" descr="/tmp/rasterized-gradient-0ad4854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0" y="1324868"/>
            <a:ext cx="4152900" cy="296004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876800" y="1553468"/>
            <a:ext cx="376961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Strategies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876800" y="1911548"/>
            <a:ext cx="3695700" cy="651421"/>
          </a:xfrm>
          <a:prstGeom prst="roundRect">
            <a:avLst>
              <a:gd name="adj" fmla="val 877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010150" y="2044898"/>
            <a:ext cx="34975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Data: 7-30 days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10150" y="2269629"/>
            <a:ext cx="34975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High-resolution metrics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76800" y="2658219"/>
            <a:ext cx="3695700" cy="651421"/>
          </a:xfrm>
          <a:prstGeom prst="roundRect">
            <a:avLst>
              <a:gd name="adj" fmla="val 877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010150" y="2791569"/>
            <a:ext cx="34975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Downsampled: 90-365 days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10150" y="3016300"/>
            <a:ext cx="34975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hourly/daily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876800" y="3404890"/>
            <a:ext cx="3695700" cy="651421"/>
          </a:xfrm>
          <a:prstGeom prst="roundRect">
            <a:avLst>
              <a:gd name="adj" fmla="val 877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010150" y="3538240"/>
            <a:ext cx="34975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Long-term: Infinite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010150" y="3762970"/>
            <a:ext cx="34975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historical data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648200" y="4437311"/>
            <a:ext cx="4152900" cy="478036"/>
          </a:xfrm>
          <a:prstGeom prst="roundRect">
            <a:avLst>
              <a:gd name="adj" fmla="val 11955"/>
            </a:avLst>
          </a:prstGeom>
          <a:solidFill>
            <a:srgbClr val="FE4447">
              <a:alpha val="10000"/>
            </a:srgbClr>
          </a:solidFill>
          <a:ln w="19050">
            <a:solidFill>
              <a:srgbClr val="FE44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800600" y="4589711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Data is permanently deleted after duration expires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431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89382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12 • USE CASES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415230"/>
            <a:ext cx="4478845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&amp; Telemetry Systems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2900" y="1625798"/>
            <a:ext cx="4235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Smart Building Sensors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2900" y="1987748"/>
            <a:ext cx="423595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temperature, humidity, and occupancy across 500 sensors in a commercial building.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2900" y="2749748"/>
            <a:ext cx="4152900" cy="721816"/>
          </a:xfrm>
          <a:prstGeom prst="roundRect">
            <a:avLst>
              <a:gd name="adj" fmla="val 791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61950" y="2749748"/>
            <a:ext cx="0" cy="721816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400" y="2902148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Data Volume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3400" y="3145929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sensors × 60 readings/hour = 30,000 data points/hour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42900" y="3585865"/>
            <a:ext cx="4152900" cy="914102"/>
          </a:xfrm>
          <a:prstGeom prst="roundRect">
            <a:avLst>
              <a:gd name="adj" fmla="val 625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61950" y="3585865"/>
            <a:ext cx="0" cy="91410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400" y="3738265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Schema Design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3400" y="3982045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Tags: floor, zone, sensor_type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33400" y="4174331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Fields: temperature, humidity, occupancy</a:t>
            </a:r>
            <a:endParaRPr lang="en-US" sz="975" dirty="0"/>
          </a:p>
        </p:txBody>
      </p:sp>
      <p:pic>
        <p:nvPicPr>
          <p:cNvPr id="16" name="Image 0" descr="/tmp/rasterized-gradient-ed57bd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0" y="1285875"/>
            <a:ext cx="4152900" cy="366861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857750" y="1495425"/>
            <a:ext cx="380847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Pattern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857750" y="1853505"/>
            <a:ext cx="3733800" cy="651421"/>
          </a:xfrm>
          <a:prstGeom prst="roundRect">
            <a:avLst>
              <a:gd name="adj" fmla="val 877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991100" y="1986855"/>
            <a:ext cx="3536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High-Frequency Ingestion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991100" y="2211586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writes via HTTP API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57750" y="2600176"/>
            <a:ext cx="3733800" cy="651421"/>
          </a:xfrm>
          <a:prstGeom prst="roundRect">
            <a:avLst>
              <a:gd name="adj" fmla="val 877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991100" y="2733526"/>
            <a:ext cx="3536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Retention Strategy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991100" y="2958257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Raw: 7d, Hourly avg: 90d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57750" y="3346847"/>
            <a:ext cx="3733800" cy="651421"/>
          </a:xfrm>
          <a:prstGeom prst="roundRect">
            <a:avLst>
              <a:gd name="adj" fmla="val 877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991100" y="3480197"/>
            <a:ext cx="3536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Real-Time Dashboards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991100" y="3704927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integration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857750" y="4093518"/>
            <a:ext cx="3733800" cy="651421"/>
          </a:xfrm>
          <a:prstGeom prst="roundRect">
            <a:avLst>
              <a:gd name="adj" fmla="val 877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91100" y="4226868"/>
            <a:ext cx="3536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Alerting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991100" y="4451598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queries for thresholds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431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89382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415230"/>
            <a:ext cx="493547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 Storage Engine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4800" y="1854250"/>
            <a:ext cx="3604320" cy="2531566"/>
          </a:xfrm>
          <a:prstGeom prst="roundRect">
            <a:avLst>
              <a:gd name="adj" fmla="val 301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3850" y="1854250"/>
            <a:ext cx="0" cy="2531566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400" y="2044750"/>
            <a:ext cx="324892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Time-Structured Merge Tree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3400" y="2383780"/>
            <a:ext cx="318522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Column-oriented storage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compression ratios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for time-range queries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WAL for durability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3400" y="3717280"/>
            <a:ext cx="3185220" cy="478036"/>
          </a:xfrm>
          <a:prstGeom prst="roundRect">
            <a:avLst>
              <a:gd name="adj" fmla="val 11955"/>
            </a:avLst>
          </a:prstGeom>
          <a:solidFill>
            <a:srgbClr val="5EA8A7">
              <a:alpha val="15000"/>
            </a:srgbClr>
          </a:solidFill>
          <a:ln w="19050">
            <a:solidFill>
              <a:srgbClr val="5EA8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3869680"/>
            <a:ext cx="2938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10x-20x compression typical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54880" y="1097280"/>
            <a:ext cx="3200400" cy="54864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Write Ahead Log (WAL)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548640" cy="457200"/>
          </a:xfrm>
          <a:prstGeom prst="downArrow">
            <a:avLst/>
          </a:prstGeom>
          <a:solidFill>
            <a:srgbClr val="FE4447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286000"/>
            <a:ext cx="3200400" cy="54864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In-Memory Cache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2926080"/>
            <a:ext cx="548640" cy="457200"/>
          </a:xfrm>
          <a:prstGeom prst="downArrow">
            <a:avLst/>
          </a:prstGeom>
          <a:solidFill>
            <a:srgbClr val="FE4447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3474720"/>
            <a:ext cx="3200400" cy="54864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TSM Files (Compressed)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431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89382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415230"/>
            <a:ext cx="5771007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Queries for Downsampling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2900" y="1285726"/>
            <a:ext cx="8458200" cy="1192411"/>
          </a:xfrm>
          <a:prstGeom prst="roundRect">
            <a:avLst>
              <a:gd name="adj" fmla="val 639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300" y="1438126"/>
            <a:ext cx="831646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Continuous Queries?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5300" y="1716137"/>
            <a:ext cx="831646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Automated, periodic InfluxQL queries that aggregate high-resolution data into lower-resolution summaries.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" y="2744837"/>
            <a:ext cx="8458200" cy="2209800"/>
          </a:xfrm>
          <a:prstGeom prst="roundRect">
            <a:avLst>
              <a:gd name="adj" fmla="val 3448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2916287"/>
            <a:ext cx="82776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Hourly Averages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514350" y="3182987"/>
            <a:ext cx="8115300" cy="1600200"/>
          </a:xfrm>
          <a:prstGeom prst="roundRect">
            <a:avLst>
              <a:gd name="adj" fmla="val 357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7700" y="3316337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CONTINUOUS QUERY "cq_hourly_avg"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7700" y="3583037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"mydb" BEGIN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7700" y="3849737"/>
            <a:ext cx="8005572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MEAN(value) INTO "average_1h"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700" y="4116437"/>
            <a:ext cx="8005572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"temperature" GROUP BY TIME(1h), *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7700" y="4383137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431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89382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415230"/>
            <a:ext cx="4478845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Grafana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4800" y="1314450"/>
            <a:ext cx="3181350" cy="3611463"/>
          </a:xfrm>
          <a:prstGeom prst="roundRect">
            <a:avLst>
              <a:gd name="adj" fmla="val 239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300" y="1504950"/>
            <a:ext cx="285635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Steps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5300" y="1843980"/>
            <a:ext cx="2800350" cy="651421"/>
          </a:xfrm>
          <a:prstGeom prst="roundRect">
            <a:avLst>
              <a:gd name="adj" fmla="val 877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843980"/>
            <a:ext cx="0" cy="65142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750" y="1977330"/>
            <a:ext cx="25454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Add Data Source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6750" y="2202061"/>
            <a:ext cx="25454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InfluxDB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5300" y="2590651"/>
            <a:ext cx="2800350" cy="651421"/>
          </a:xfrm>
          <a:prstGeom prst="roundRect">
            <a:avLst>
              <a:gd name="adj" fmla="val 877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14350" y="2590651"/>
            <a:ext cx="0" cy="65142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750" y="2724001"/>
            <a:ext cx="25454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Configure Connection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6750" y="2948732"/>
            <a:ext cx="25454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URL, database, auth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5300" y="3337322"/>
            <a:ext cx="2800350" cy="651421"/>
          </a:xfrm>
          <a:prstGeom prst="roundRect">
            <a:avLst>
              <a:gd name="adj" fmla="val 877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14350" y="3337322"/>
            <a:ext cx="0" cy="65142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750" y="3470672"/>
            <a:ext cx="25454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Build Queries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6750" y="3695402"/>
            <a:ext cx="25454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query builder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5300" y="4083993"/>
            <a:ext cx="2800350" cy="651421"/>
          </a:xfrm>
          <a:prstGeom prst="roundRect">
            <a:avLst>
              <a:gd name="adj" fmla="val 877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14350" y="4083993"/>
            <a:ext cx="0" cy="65142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750" y="4217343"/>
            <a:ext cx="25454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Create Panels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6750" y="4442073"/>
            <a:ext cx="25454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graphs</a:t>
            </a:r>
            <a:endParaRPr lang="en-US" sz="9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3638550" y="1169938"/>
          <a:ext cx="5200501" cy="390033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431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89382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415230"/>
            <a:ext cx="513950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Flow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645920" cy="4572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Sources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463040" cy="36576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IoT Sensors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463040" cy="36576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Servers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463040" cy="36576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Applications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737360"/>
            <a:ext cx="731520" cy="365760"/>
          </a:xfrm>
          <a:prstGeom prst="rightArrow">
            <a:avLst/>
          </a:prstGeom>
          <a:solidFill>
            <a:srgbClr val="FE4447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914400"/>
            <a:ext cx="2011680" cy="4572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InfluxDB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463040"/>
            <a:ext cx="1828800" cy="32004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Write 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1828800"/>
            <a:ext cx="1828800" cy="32004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TSM Storage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194560"/>
            <a:ext cx="1828800" cy="32004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Query Engine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1737360"/>
            <a:ext cx="731520" cy="365760"/>
          </a:xfrm>
          <a:prstGeom prst="rightArrow">
            <a:avLst/>
          </a:prstGeom>
          <a:solidFill>
            <a:srgbClr val="FE4447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914400"/>
            <a:ext cx="2011680" cy="4572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Visualization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463040"/>
            <a:ext cx="1828800" cy="36576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Grafana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874520"/>
            <a:ext cx="1828800" cy="36576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Chronograf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1828800" cy="36576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Custom Apps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926080"/>
            <a:ext cx="1645920" cy="457200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Processing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3474720"/>
            <a:ext cx="4572000" cy="36576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</a:rPr>
              <a:t>Continuous Queries • Retention Policies • Downsampling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431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89382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415230"/>
            <a:ext cx="454685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Design Best Practices</a:t>
            </a:r>
            <a:endParaRPr lang="en-US" sz="2400" dirty="0"/>
          </a:p>
        </p:txBody>
      </p:sp>
      <p:pic>
        <p:nvPicPr>
          <p:cNvPr id="5" name="Image 0" descr="/tmp/rasterized-gradient-154366d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331416"/>
            <a:ext cx="4191000" cy="1882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5300" y="1521916"/>
            <a:ext cx="388620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5300" y="1841897"/>
            <a:ext cx="38100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tags for metadata you'll query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tag cardinality reasonable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write data points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appropriate retention policies</a:t>
            </a:r>
            <a:endParaRPr lang="en-US" sz="1350" dirty="0"/>
          </a:p>
        </p:txBody>
      </p:sp>
      <p:pic>
        <p:nvPicPr>
          <p:cNvPr id="8" name="Image 1" descr="/tmp/rasterized-gradient-3d211f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331416"/>
            <a:ext cx="4191000" cy="1882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38700" y="1521916"/>
            <a:ext cx="388620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DON'T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38700" y="1841897"/>
            <a:ext cx="38100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high-cardinality tags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numeric IDs as tags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fields without time bounds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unstructured data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04800" y="3518297"/>
            <a:ext cx="8534400" cy="1390501"/>
          </a:xfrm>
          <a:prstGeom prst="roundRect">
            <a:avLst>
              <a:gd name="adj" fmla="val 548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328613" y="3518297"/>
            <a:ext cx="0" cy="139050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2925" y="3708797"/>
            <a:ext cx="826789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Tips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2925" y="4028777"/>
            <a:ext cx="2600325" cy="689521"/>
          </a:xfrm>
          <a:prstGeom prst="roundRect">
            <a:avLst>
              <a:gd name="adj" fmla="val 8288"/>
            </a:avLst>
          </a:prstGeom>
          <a:solidFill>
            <a:srgbClr val="FFFFFF"/>
          </a:solidFill>
          <a:ln w="9525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62654" y="4171652"/>
            <a:ext cx="236086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series cardinality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62654" y="4415433"/>
            <a:ext cx="23608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under 1M series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295650" y="4028777"/>
            <a:ext cx="2600325" cy="689521"/>
          </a:xfrm>
          <a:prstGeom prst="roundRect">
            <a:avLst>
              <a:gd name="adj" fmla="val 8288"/>
            </a:avLst>
          </a:prstGeom>
          <a:solidFill>
            <a:srgbClr val="FFFFFF"/>
          </a:solidFill>
          <a:ln w="9525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415379" y="4171652"/>
            <a:ext cx="236086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writes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415379" y="4415433"/>
            <a:ext cx="23608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5,000-10,000 points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048375" y="4028777"/>
            <a:ext cx="2600325" cy="689521"/>
          </a:xfrm>
          <a:prstGeom prst="roundRect">
            <a:avLst>
              <a:gd name="adj" fmla="val 8288"/>
            </a:avLst>
          </a:prstGeom>
          <a:solidFill>
            <a:srgbClr val="FFFFFF"/>
          </a:solidFill>
          <a:ln w="9525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168104" y="4171652"/>
            <a:ext cx="236086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bounds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168104" y="4415433"/>
            <a:ext cx="23608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specify ranges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dad75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305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266700"/>
            <a:ext cx="44011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Complete!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66700" y="723900"/>
            <a:ext cx="878281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ready to implement InfluxDB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2900" y="1762125"/>
            <a:ext cx="4171950" cy="1882080"/>
          </a:xfrm>
          <a:prstGeom prst="roundRect">
            <a:avLst>
              <a:gd name="adj" fmla="val 404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61950" y="1762125"/>
            <a:ext cx="0" cy="188208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952625"/>
            <a:ext cx="382790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71500" y="2272605"/>
            <a:ext cx="375285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optimized storage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vs Fields design decisions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&amp; downsampling strategies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implementation patterns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67250" y="1673721"/>
            <a:ext cx="4133850" cy="2058888"/>
          </a:xfrm>
          <a:prstGeom prst="roundRect">
            <a:avLst>
              <a:gd name="adj" fmla="val 3701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57750" y="1864221"/>
            <a:ext cx="382790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57750" y="2184202"/>
            <a:ext cx="3752850" cy="401836"/>
          </a:xfrm>
          <a:prstGeom prst="roundRect">
            <a:avLst>
              <a:gd name="adj" fmla="val 1422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972050" y="2298502"/>
            <a:ext cx="359473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InfluxData Documentation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4857750" y="2662238"/>
            <a:ext cx="3752850" cy="401836"/>
          </a:xfrm>
          <a:prstGeom prst="roundRect">
            <a:avLst>
              <a:gd name="adj" fmla="val 1422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972050" y="2776538"/>
            <a:ext cx="359473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GitHub Examples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4857750" y="3140273"/>
            <a:ext cx="3752850" cy="401836"/>
          </a:xfrm>
          <a:prstGeom prst="roundRect">
            <a:avLst>
              <a:gd name="adj" fmla="val 1422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972050" y="3254573"/>
            <a:ext cx="359473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Community Forum</a:t>
            </a:r>
            <a:endParaRPr lang="en-US" sz="975" dirty="0"/>
          </a:p>
        </p:txBody>
      </p:sp>
      <p:pic>
        <p:nvPicPr>
          <p:cNvPr id="17" name="Image 1" descr="/tmp/rasterized-gradient-1f5c3d0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037409"/>
            <a:ext cx="8458200" cy="8152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3197" y="4208859"/>
            <a:ext cx="8277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33197" y="4494609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pilot • Monitor real data • Scale gradually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InfluxDB - Complete Course</dc:title>
  <dc:subject>PptxGenJS Presentation</dc:subject>
  <dc:creator>InfluxDB Training</dc:creator>
  <cp:lastModifiedBy>InfluxDB Training</cp:lastModifiedBy>
  <cp:revision>1</cp:revision>
  <dcterms:created xsi:type="dcterms:W3CDTF">2025-11-04T04:54:19Z</dcterms:created>
  <dcterms:modified xsi:type="dcterms:W3CDTF">2025-11-04T04:54:19Z</dcterms:modified>
</cp:coreProperties>
</file>